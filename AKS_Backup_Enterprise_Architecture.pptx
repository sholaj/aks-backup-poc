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63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svg-c2df73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96791" y="1333500"/>
            <a:ext cx="435041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Backup for AKS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997330" y="2057400"/>
            <a:ext cx="31493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Design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05571" y="3101280"/>
            <a:ext cx="3332708" cy="415230"/>
          </a:xfrm>
          <a:prstGeom prst="roundRect">
            <a:avLst>
              <a:gd name="adj" fmla="val 1835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105416" y="3215580"/>
            <a:ext cx="29330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Multi-Cluster Backup Strategy for UK8S Platform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26714" y="4697760"/>
            <a:ext cx="18904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8101"/>
              </a:spcBef>
              <a:spcAft>
                <a:spcPts val="2250"/>
              </a:spcAft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Engineering | January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8195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876300"/>
            <a:ext cx="166560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108621"/>
            <a:ext cx="16656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enterprise backup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42666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1421011"/>
            <a:ext cx="16502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53332"/>
            <a:ext cx="16502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Multi-cluster backup strategy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19713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1965722"/>
            <a:ext cx="18016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RBAC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98043"/>
            <a:ext cx="18016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MSI patterns and role assignments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51608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2510433"/>
            <a:ext cx="17694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42754"/>
            <a:ext cx="17694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automation sequence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0" y="876300"/>
            <a:ext cx="3048000" cy="1833414"/>
          </a:xfrm>
          <a:prstGeom prst="rect">
            <a:avLst/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734050" y="876300"/>
            <a:ext cx="0" cy="1833414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1066800"/>
            <a:ext cx="2681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1367730"/>
            <a:ext cx="268147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</a:t>
            </a: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cattle-not-pets</a:t>
            </a: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operations while preserving application metadata across lifecycle events.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943600" y="2039243"/>
            <a:ext cx="268147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cluster refresh for dev/engineering environments with automated backup and restore capabilities.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03970"/>
            <a:ext cx="4076700" cy="3352800"/>
          </a:xfrm>
          <a:prstGeom prst="roundRect">
            <a:avLst>
              <a:gd name="adj" fmla="val 3409"/>
            </a:avLst>
          </a:prstGeom>
          <a:solidFill>
            <a:srgbClr val="FFF5F5"/>
          </a:solidFill>
          <a:ln w="19050">
            <a:solidFill>
              <a:srgbClr val="D83B0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svg-f0ceec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01352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5350" y="1021110"/>
            <a:ext cx="11147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Scenarios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0550" y="1394520"/>
            <a:ext cx="3657600" cy="2552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infrastructure failure - unrecoverable nodes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namespace deletion (AT-* applications)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outage requires failover to secondary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config corruption across deployments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 requirements for production workloads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86300" y="1204020"/>
            <a:ext cx="4076700" cy="2552700"/>
          </a:xfrm>
          <a:prstGeom prst="roundRect">
            <a:avLst>
              <a:gd name="adj" fmla="val 4478"/>
            </a:avLst>
          </a:prstGeom>
          <a:solidFill>
            <a:srgbClr val="F0FFF4"/>
          </a:solidFill>
          <a:ln w="19050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/tmp/rasterized-svg-96fe8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50" y="141357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0650" y="1421160"/>
            <a:ext cx="14337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Solution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95850" y="1794570"/>
            <a:ext cx="3657600" cy="17526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daily backup for all AKS clusters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 recovery for any namespace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Geo-redundant storage (GRS) across regions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Sub-15 minute RTO for namespace recovery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Compliance-aligned with network restrictions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81000" y="4347270"/>
            <a:ext cx="8382000" cy="678061"/>
          </a:xfrm>
          <a:prstGeom prst="roundRect">
            <a:avLst>
              <a:gd name="adj" fmla="val 11238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09600" y="4499670"/>
            <a:ext cx="80832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Enterprise-grade disaster recovery with automated backup, enabling rapid cluster recovery and zero application metadata loss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781050"/>
            <a:ext cx="8572500" cy="2562076"/>
          </a:xfrm>
          <a:prstGeom prst="roundRect">
            <a:avLst>
              <a:gd name="adj" fmla="val 4461"/>
            </a:avLst>
          </a:prstGeom>
          <a:solidFill>
            <a:srgbClr val="F3F3F3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52500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INFRASTRUCTURE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57200" y="1213396"/>
            <a:ext cx="2667000" cy="921990"/>
          </a:xfrm>
          <a:prstGeom prst="roundRect">
            <a:avLst>
              <a:gd name="adj" fmla="val 826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rasterized-svg-4148d6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1327696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7116" y="1708696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Vault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7116" y="188773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MSI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57200" y="2249686"/>
            <a:ext cx="2667000" cy="921990"/>
          </a:xfrm>
          <a:prstGeom prst="roundRect">
            <a:avLst>
              <a:gd name="adj" fmla="val 8265"/>
            </a:avLst>
          </a:prstGeom>
          <a:solidFill>
            <a:srgbClr val="50B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/tmp/rasterized-svg-473890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2363986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116" y="2744986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7116" y="292402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GRS + Metadata</a:t>
            </a:r>
            <a:endParaRPr lang="en-US" sz="750" dirty="0"/>
          </a:p>
        </p:txBody>
      </p:sp>
      <p:pic>
        <p:nvPicPr>
          <p:cNvPr id="13" name="Image 2" descr="/tmp/rasterized-svg-b2af95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947714"/>
            <a:ext cx="3810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86200" y="1421160"/>
            <a:ext cx="4896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CLUSTERS</a:t>
            </a:r>
            <a:endParaRPr lang="en-US" sz="825" dirty="0"/>
          </a:p>
        </p:txBody>
      </p:sp>
      <p:sp>
        <p:nvSpPr>
          <p:cNvPr id="15" name="Text 10"/>
          <p:cNvSpPr/>
          <p:nvPr/>
        </p:nvSpPr>
        <p:spPr>
          <a:xfrm>
            <a:off x="3886200" y="1682055"/>
            <a:ext cx="1524000" cy="1020961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/tmp/rasterized-svg-95df5f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1796355"/>
            <a:ext cx="190500" cy="190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48150" y="1818233"/>
            <a:ext cx="4573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825" dirty="0"/>
          </a:p>
        </p:txBody>
      </p:sp>
      <p:sp>
        <p:nvSpPr>
          <p:cNvPr id="18" name="Text 12"/>
          <p:cNvSpPr/>
          <p:nvPr/>
        </p:nvSpPr>
        <p:spPr>
          <a:xfrm>
            <a:off x="4000500" y="2063055"/>
            <a:ext cx="1295400" cy="234255"/>
          </a:xfrm>
          <a:prstGeom prst="roundRect">
            <a:avLst>
              <a:gd name="adj" fmla="val 16264"/>
            </a:avLst>
          </a:prstGeom>
          <a:solidFill>
            <a:srgbClr val="E6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045839" y="2120205"/>
            <a:ext cx="12047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Extension</a:t>
            </a:r>
            <a:endParaRPr lang="en-US" sz="675" dirty="0"/>
          </a:p>
        </p:txBody>
      </p:sp>
      <p:sp>
        <p:nvSpPr>
          <p:cNvPr id="20" name="Text 14"/>
          <p:cNvSpPr/>
          <p:nvPr/>
        </p:nvSpPr>
        <p:spPr>
          <a:xfrm>
            <a:off x="4000500" y="2354461"/>
            <a:ext cx="1295400" cy="234255"/>
          </a:xfrm>
          <a:prstGeom prst="roundRect">
            <a:avLst>
              <a:gd name="adj" fmla="val 1626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045839" y="2411611"/>
            <a:ext cx="12047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RG 1</a:t>
            </a:r>
            <a:endParaRPr lang="en-US" sz="675" dirty="0"/>
          </a:p>
        </p:txBody>
      </p:sp>
      <p:sp>
        <p:nvSpPr>
          <p:cNvPr id="22" name="Text 16"/>
          <p:cNvSpPr/>
          <p:nvPr/>
        </p:nvSpPr>
        <p:spPr>
          <a:xfrm>
            <a:off x="5524500" y="1682055"/>
            <a:ext cx="1524000" cy="1020961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/tmp/rasterized-svg-93162d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1796355"/>
            <a:ext cx="190500" cy="1905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86450" y="1818233"/>
            <a:ext cx="4573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825" dirty="0"/>
          </a:p>
        </p:txBody>
      </p:sp>
      <p:sp>
        <p:nvSpPr>
          <p:cNvPr id="25" name="Text 18"/>
          <p:cNvSpPr/>
          <p:nvPr/>
        </p:nvSpPr>
        <p:spPr>
          <a:xfrm>
            <a:off x="5638800" y="2063055"/>
            <a:ext cx="1295400" cy="234255"/>
          </a:xfrm>
          <a:prstGeom prst="roundRect">
            <a:avLst>
              <a:gd name="adj" fmla="val 16264"/>
            </a:avLst>
          </a:prstGeom>
          <a:solidFill>
            <a:srgbClr val="E6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684139" y="2120205"/>
            <a:ext cx="12047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Extension</a:t>
            </a:r>
            <a:endParaRPr lang="en-US" sz="675" dirty="0"/>
          </a:p>
        </p:txBody>
      </p:sp>
      <p:sp>
        <p:nvSpPr>
          <p:cNvPr id="27" name="Text 20"/>
          <p:cNvSpPr/>
          <p:nvPr/>
        </p:nvSpPr>
        <p:spPr>
          <a:xfrm>
            <a:off x="5638800" y="2354461"/>
            <a:ext cx="1295400" cy="234255"/>
          </a:xfrm>
          <a:prstGeom prst="roundRect">
            <a:avLst>
              <a:gd name="adj" fmla="val 1626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684139" y="2411611"/>
            <a:ext cx="12047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RG 2</a:t>
            </a:r>
            <a:endParaRPr lang="en-US" sz="675" dirty="0"/>
          </a:p>
        </p:txBody>
      </p:sp>
      <p:sp>
        <p:nvSpPr>
          <p:cNvPr id="29" name="Text 22"/>
          <p:cNvSpPr/>
          <p:nvPr/>
        </p:nvSpPr>
        <p:spPr>
          <a:xfrm>
            <a:off x="7162800" y="1763911"/>
            <a:ext cx="1524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5" descr="/tmp/rasterized-svg-d115ad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7100" y="1878211"/>
            <a:ext cx="190500" cy="1905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24750" y="1900089"/>
            <a:ext cx="475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N</a:t>
            </a:r>
            <a:endParaRPr lang="en-US" sz="825" dirty="0"/>
          </a:p>
        </p:txBody>
      </p:sp>
      <p:sp>
        <p:nvSpPr>
          <p:cNvPr id="32" name="Text 24"/>
          <p:cNvSpPr/>
          <p:nvPr/>
        </p:nvSpPr>
        <p:spPr>
          <a:xfrm>
            <a:off x="7264146" y="2221111"/>
            <a:ext cx="13213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More clusters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285750" y="3457426"/>
            <a:ext cx="2755850" cy="489496"/>
          </a:xfrm>
          <a:prstGeom prst="roundRect">
            <a:avLst>
              <a:gd name="adj" fmla="val 11675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419100" y="3552676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Vault per Environment</a:t>
            </a:r>
            <a:endParaRPr lang="en-US" sz="825" dirty="0"/>
          </a:p>
        </p:txBody>
      </p:sp>
      <p:sp>
        <p:nvSpPr>
          <p:cNvPr id="35" name="Text 27"/>
          <p:cNvSpPr/>
          <p:nvPr/>
        </p:nvSpPr>
        <p:spPr>
          <a:xfrm>
            <a:off x="419100" y="371832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clusters automatically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3194000" y="3457426"/>
            <a:ext cx="2755850" cy="489496"/>
          </a:xfrm>
          <a:prstGeom prst="roundRect">
            <a:avLst>
              <a:gd name="adj" fmla="val 11675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3327350" y="3552676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Per-Cluster Snapshot RG</a:t>
            </a:r>
            <a:endParaRPr lang="en-US" sz="825" dirty="0"/>
          </a:p>
        </p:txBody>
      </p:sp>
      <p:sp>
        <p:nvSpPr>
          <p:cNvPr id="38" name="Text 30"/>
          <p:cNvSpPr/>
          <p:nvPr/>
        </p:nvSpPr>
        <p:spPr>
          <a:xfrm>
            <a:off x="3327350" y="371832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isolation per cluster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6102251" y="3457426"/>
            <a:ext cx="2755850" cy="489496"/>
          </a:xfrm>
          <a:prstGeom prst="roundRect">
            <a:avLst>
              <a:gd name="adj" fmla="val 11675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235601" y="3552676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Storage Account</a:t>
            </a:r>
            <a:endParaRPr lang="en-US" sz="825" dirty="0"/>
          </a:p>
        </p:txBody>
      </p:sp>
      <p:sp>
        <p:nvSpPr>
          <p:cNvPr id="41" name="Text 33"/>
          <p:cNvSpPr/>
          <p:nvPr/>
        </p:nvSpPr>
        <p:spPr>
          <a:xfrm>
            <a:off x="6235601" y="3718322"/>
            <a:ext cx="2538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manifests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RBAC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147167"/>
            <a:ext cx="37802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Types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448098"/>
            <a:ext cx="3706118" cy="777032"/>
          </a:xfrm>
          <a:prstGeom prst="roundRect">
            <a:avLst>
              <a:gd name="adj" fmla="val 9807"/>
            </a:avLst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448098"/>
            <a:ext cx="0" cy="7770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581448"/>
            <a:ext cx="34693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Vault MSI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1792784"/>
            <a:ext cx="34693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System-assigned, auto-created per vault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52450" y="1958429"/>
            <a:ext cx="3469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Scales with environments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339429"/>
            <a:ext cx="3706118" cy="777032"/>
          </a:xfrm>
          <a:prstGeom prst="roundRect">
            <a:avLst>
              <a:gd name="adj" fmla="val 98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339429"/>
            <a:ext cx="0" cy="777032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2450" y="2472779"/>
            <a:ext cx="34693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Cluster MSI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2684115"/>
            <a:ext cx="34693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System-assigned, cluster operations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52450" y="2849761"/>
            <a:ext cx="3469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per cluster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230761"/>
            <a:ext cx="3706118" cy="777032"/>
          </a:xfrm>
          <a:prstGeom prst="roundRect">
            <a:avLst>
              <a:gd name="adj" fmla="val 98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230761"/>
            <a:ext cx="0" cy="777032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2450" y="3364111"/>
            <a:ext cx="34693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Extension MSI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52450" y="3575447"/>
            <a:ext cx="34693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on extension install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52450" y="3741093"/>
            <a:ext cx="3469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cluster, for storage access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1000" y="4122093"/>
            <a:ext cx="3706118" cy="560040"/>
          </a:xfrm>
          <a:prstGeom prst="roundRect">
            <a:avLst>
              <a:gd name="adj" fmla="val 13606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5300" y="4236393"/>
            <a:ext cx="35470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SELECTED: System MSI per Vault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5300" y="4434483"/>
            <a:ext cx="3547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Auto-created, scalable, minimal overhead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15718" y="1225004"/>
            <a:ext cx="4536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Role Assignments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15718" y="1525935"/>
            <a:ext cx="4447282" cy="902940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39543" y="1649760"/>
            <a:ext cx="42836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Vault MSI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5718" y="2543175"/>
            <a:ext cx="4447282" cy="664815"/>
          </a:xfrm>
          <a:prstGeom prst="roundRect">
            <a:avLst>
              <a:gd name="adj" fmla="val 11462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39543" y="2667000"/>
            <a:ext cx="42836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Cluster MSI 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5718" y="3322290"/>
            <a:ext cx="4447282" cy="664815"/>
          </a:xfrm>
          <a:prstGeom prst="roundRect">
            <a:avLst>
              <a:gd name="adj" fmla="val 11462"/>
            </a:avLst>
          </a:prstGeom>
          <a:solidFill>
            <a:srgbClr val="FFFFFF"/>
          </a:solidFill>
          <a:ln w="9525">
            <a:solidFill>
              <a:srgbClr val="D1D1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39543" y="3446115"/>
            <a:ext cx="42836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Extension MSI 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15718" y="4101405"/>
            <a:ext cx="4447282" cy="502741"/>
          </a:xfrm>
          <a:prstGeom prst="roundRect">
            <a:avLst>
              <a:gd name="adj" fmla="val 15157"/>
            </a:avLst>
          </a:prstGeom>
          <a:solidFill>
            <a:srgbClr val="FFF9E6"/>
          </a:solidFill>
          <a:ln w="9525">
            <a:solidFill>
              <a:srgbClr val="FFB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20493" y="4206180"/>
            <a:ext cx="432248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Automation:</a:t>
            </a:r>
            <a:r>
              <a:rPr lang="en-US" sz="825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58_backup_vault_deployment.sh assigns all roles via SVC_DEV_AT39473_deploy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&amp; Restore Flows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r>
              <a:rPr lang="en-US" sz="1050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Backup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143000"/>
            <a:ext cx="1143000" cy="533251"/>
          </a:xfrm>
          <a:prstGeom prst="roundRect">
            <a:avLst>
              <a:gd name="adj" fmla="val 14290"/>
            </a:avLst>
          </a:prstGeom>
          <a:solidFill>
            <a:srgbClr val="F0FFF4"/>
          </a:solidFill>
          <a:ln w="19050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5018" y="1257300"/>
            <a:ext cx="8549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Trigger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25018" y="1441996"/>
            <a:ext cx="8549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Schedule/On-demand</a:t>
            </a:r>
            <a:endParaRPr lang="en-US" sz="675" dirty="0"/>
          </a:p>
        </p:txBody>
      </p:sp>
      <p:pic>
        <p:nvPicPr>
          <p:cNvPr id="7" name="Image 0" descr="/tmp/rasterized-svg-56a874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333351"/>
            <a:ext cx="228600" cy="152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05000" y="1143000"/>
            <a:ext cx="1143000" cy="533251"/>
          </a:xfrm>
          <a:prstGeom prst="roundRect">
            <a:avLst>
              <a:gd name="adj" fmla="val 14290"/>
            </a:avLst>
          </a:prstGeom>
          <a:solidFill>
            <a:srgbClr val="F0FFF4"/>
          </a:solidFill>
          <a:ln w="19050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049018" y="1257300"/>
            <a:ext cx="8549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Pre-hooks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049018" y="1441996"/>
            <a:ext cx="8549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scripts</a:t>
            </a:r>
            <a:endParaRPr lang="en-US" sz="675" dirty="0"/>
          </a:p>
        </p:txBody>
      </p:sp>
      <p:pic>
        <p:nvPicPr>
          <p:cNvPr id="11" name="Image 1" descr="/tmp/rasterized-svg-6f270d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333351"/>
            <a:ext cx="228600" cy="152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1143000"/>
            <a:ext cx="1143000" cy="533251"/>
          </a:xfrm>
          <a:prstGeom prst="roundRect">
            <a:avLst>
              <a:gd name="adj" fmla="val 14290"/>
            </a:avLst>
          </a:prstGeom>
          <a:solidFill>
            <a:srgbClr val="F0FFF4"/>
          </a:solidFill>
          <a:ln w="19050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573018" y="1257300"/>
            <a:ext cx="8549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Manifests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3573018" y="1441996"/>
            <a:ext cx="8549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Storage Account</a:t>
            </a:r>
            <a:endParaRPr lang="en-US" sz="675" dirty="0"/>
          </a:p>
        </p:txBody>
      </p:sp>
      <p:pic>
        <p:nvPicPr>
          <p:cNvPr id="15" name="Image 2" descr="/tmp/rasterized-svg-934ff6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333351"/>
            <a:ext cx="228600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53000" y="1143000"/>
            <a:ext cx="1143000" cy="533251"/>
          </a:xfrm>
          <a:prstGeom prst="roundRect">
            <a:avLst>
              <a:gd name="adj" fmla="val 14290"/>
            </a:avLst>
          </a:prstGeom>
          <a:solidFill>
            <a:srgbClr val="F0FFF4"/>
          </a:solidFill>
          <a:ln w="19050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097018" y="1257300"/>
            <a:ext cx="8549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Snapshots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5097018" y="1441996"/>
            <a:ext cx="8549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Snapshot RG</a:t>
            </a:r>
            <a:endParaRPr lang="en-US" sz="675" dirty="0"/>
          </a:p>
        </p:txBody>
      </p:sp>
      <p:pic>
        <p:nvPicPr>
          <p:cNvPr id="19" name="Image 3" descr="/tmp/rasterized-svg-585fa1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33351"/>
            <a:ext cx="228600" cy="152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77000" y="1241078"/>
            <a:ext cx="762000" cy="337096"/>
          </a:xfrm>
          <a:prstGeom prst="roundRect">
            <a:avLst>
              <a:gd name="adj" fmla="val 22605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605397" y="1336328"/>
            <a:ext cx="5052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25" dirty="0"/>
          </a:p>
        </p:txBody>
      </p:sp>
      <p:sp>
        <p:nvSpPr>
          <p:cNvPr id="22" name="Text 16"/>
          <p:cNvSpPr/>
          <p:nvPr/>
        </p:nvSpPr>
        <p:spPr>
          <a:xfrm>
            <a:off x="381000" y="2634704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Restore Flow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81000" y="2939504"/>
            <a:ext cx="1238250" cy="533251"/>
          </a:xfrm>
          <a:prstGeom prst="roundRect">
            <a:avLst>
              <a:gd name="adj" fmla="val 14290"/>
            </a:avLst>
          </a:prstGeom>
          <a:solidFill>
            <a:srgbClr val="E6F3FF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24066" y="3053804"/>
            <a:ext cx="9521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Point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524066" y="3238500"/>
            <a:ext cx="9521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point</a:t>
            </a:r>
            <a:endParaRPr lang="en-US" sz="675" dirty="0"/>
          </a:p>
        </p:txBody>
      </p:sp>
      <p:pic>
        <p:nvPicPr>
          <p:cNvPr id="26" name="Image 4" descr="/tmp/rasterized-svg-408515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5450" y="3129855"/>
            <a:ext cx="228600" cy="1524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00250" y="2939504"/>
            <a:ext cx="1238250" cy="533251"/>
          </a:xfrm>
          <a:prstGeom prst="roundRect">
            <a:avLst>
              <a:gd name="adj" fmla="val 14290"/>
            </a:avLst>
          </a:prstGeom>
          <a:solidFill>
            <a:srgbClr val="E6F3FF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2143316" y="3053804"/>
            <a:ext cx="9521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Recreate Disks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143316" y="3238500"/>
            <a:ext cx="9521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snapshots</a:t>
            </a:r>
            <a:endParaRPr lang="en-US" sz="675" dirty="0"/>
          </a:p>
        </p:txBody>
      </p:sp>
      <p:pic>
        <p:nvPicPr>
          <p:cNvPr id="30" name="Image 5" descr="/tmp/rasterized-svg-63e6eb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3129855"/>
            <a:ext cx="228600" cy="152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19500" y="2939504"/>
            <a:ext cx="1238250" cy="533251"/>
          </a:xfrm>
          <a:prstGeom prst="roundRect">
            <a:avLst>
              <a:gd name="adj" fmla="val 14290"/>
            </a:avLst>
          </a:prstGeom>
          <a:solidFill>
            <a:srgbClr val="E6F3FF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3762566" y="3053804"/>
            <a:ext cx="9521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K8s Resources</a:t>
            </a:r>
            <a:endParaRPr lang="en-US" sz="825" dirty="0"/>
          </a:p>
        </p:txBody>
      </p:sp>
      <p:sp>
        <p:nvSpPr>
          <p:cNvPr id="33" name="Text 25"/>
          <p:cNvSpPr/>
          <p:nvPr/>
        </p:nvSpPr>
        <p:spPr>
          <a:xfrm>
            <a:off x="3762566" y="3238500"/>
            <a:ext cx="95211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Manifests applied</a:t>
            </a:r>
            <a:endParaRPr lang="en-US" sz="675" dirty="0"/>
          </a:p>
        </p:txBody>
      </p:sp>
      <p:pic>
        <p:nvPicPr>
          <p:cNvPr id="34" name="Image 6" descr="/tmp/rasterized-svg-f66038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3129855"/>
            <a:ext cx="228600" cy="1524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38750" y="2958554"/>
            <a:ext cx="952500" cy="495151"/>
          </a:xfrm>
          <a:prstGeom prst="roundRect">
            <a:avLst>
              <a:gd name="adj" fmla="val 15389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5365242" y="3053804"/>
            <a:ext cx="699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Validate</a:t>
            </a:r>
            <a:endParaRPr lang="en-US" sz="825" dirty="0"/>
          </a:p>
        </p:txBody>
      </p:sp>
      <p:sp>
        <p:nvSpPr>
          <p:cNvPr id="37" name="Text 28"/>
          <p:cNvSpPr/>
          <p:nvPr/>
        </p:nvSpPr>
        <p:spPr>
          <a:xfrm>
            <a:off x="5365242" y="3238500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Post-hooks</a:t>
            </a:r>
            <a:endParaRPr lang="en-US" sz="675" dirty="0"/>
          </a:p>
        </p:txBody>
      </p:sp>
      <p:sp>
        <p:nvSpPr>
          <p:cNvPr id="38" name="Text 29"/>
          <p:cNvSpPr/>
          <p:nvPr/>
        </p:nvSpPr>
        <p:spPr>
          <a:xfrm>
            <a:off x="381000" y="4431209"/>
            <a:ext cx="4114800" cy="56004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0"/>
          <p:cNvSpPr/>
          <p:nvPr/>
        </p:nvSpPr>
        <p:spPr>
          <a:xfrm>
            <a:off x="400050" y="4431209"/>
            <a:ext cx="0" cy="560040"/>
          </a:xfrm>
          <a:prstGeom prst="line">
            <a:avLst/>
          </a:prstGeom>
          <a:noFill/>
          <a:ln w="381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533400" y="4545509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Filters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533400" y="4743599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AT-* namespaces with include_cluster_scope_resources=true</a:t>
            </a:r>
            <a:endParaRPr lang="en-US" sz="750" dirty="0"/>
          </a:p>
        </p:txBody>
      </p:sp>
      <p:sp>
        <p:nvSpPr>
          <p:cNvPr id="42" name="Text 33"/>
          <p:cNvSpPr/>
          <p:nvPr/>
        </p:nvSpPr>
        <p:spPr>
          <a:xfrm>
            <a:off x="4648200" y="4431209"/>
            <a:ext cx="4114800" cy="560040"/>
          </a:xfrm>
          <a:prstGeom prst="rect">
            <a:avLst/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4"/>
          <p:cNvSpPr/>
          <p:nvPr/>
        </p:nvSpPr>
        <p:spPr>
          <a:xfrm>
            <a:off x="4667250" y="4431209"/>
            <a:ext cx="0" cy="5600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4800600" y="4545509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Cross-Region DR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4800600" y="4743599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GRS vault enables restore to secondary region standby cluster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 Recovery Example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55245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AT-35366-myapplication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988963"/>
            <a:ext cx="8534400" cy="401836"/>
          </a:xfrm>
          <a:prstGeom prst="rect">
            <a:avLst/>
          </a:prstGeom>
          <a:solidFill>
            <a:srgbClr val="FFF4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988963"/>
            <a:ext cx="0" cy="401836"/>
          </a:xfrm>
          <a:prstGeom prst="line">
            <a:avLst/>
          </a:prstGeom>
          <a:noFill/>
          <a:ln w="381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103263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 cluster destroyed at 18:00 — need to restore AT-35366-myapplication namespace from 14:00 backup to new cluster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543199"/>
            <a:ext cx="8534400" cy="1291382"/>
          </a:xfrm>
          <a:prstGeom prst="roundRect">
            <a:avLst>
              <a:gd name="adj" fmla="val 737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1695599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TIMELINE</a:t>
            </a:r>
            <a:endParaRPr lang="en-US" sz="825" dirty="0"/>
          </a:p>
        </p:txBody>
      </p:sp>
      <p:pic>
        <p:nvPicPr>
          <p:cNvPr id="9" name="Image 0" descr="/tmp/rasterized-gradient-866f1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089845"/>
            <a:ext cx="6934200" cy="381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7912" y="199459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07C10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27841" y="2318445"/>
            <a:ext cx="5669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27841" y="2510730"/>
            <a:ext cx="566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Backup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999631" y="195649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78D4"/>
          </a:solidFill>
          <a:ln w="28575">
            <a:solidFill>
              <a:srgbClr val="FFFFFF"/>
            </a:solidFill>
          </a:ln>
          <a:effectLst>
            <a:outerShdw blurRad="76200" dist="19050" dir="5400000" algn="bl" rotWithShape="0">
              <a:srgbClr val="0078D4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911950" y="2356545"/>
            <a:ext cx="5182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2911950" y="2548830"/>
            <a:ext cx="518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500688" y="199459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83B01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45266" y="2318445"/>
            <a:ext cx="777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245266" y="2510730"/>
            <a:ext cx="777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Destroyed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093422" y="199459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07C10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835268" y="2318445"/>
            <a:ext cx="7830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18:15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7835268" y="2510730"/>
            <a:ext cx="783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Complete</a:t>
            </a:r>
            <a:endParaRPr lang="en-US" sz="750" dirty="0"/>
          </a:p>
        </p:txBody>
      </p:sp>
      <p:pic>
        <p:nvPicPr>
          <p:cNvPr id="22" name="Image 1" descr="/tmp/rasterized-gradient-80f3e3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986980"/>
            <a:ext cx="3546723" cy="198283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6250" y="315843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857250" y="3217515"/>
            <a:ext cx="8542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Vault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6250" y="3558480"/>
            <a:ext cx="3203823" cy="1239887"/>
          </a:xfrm>
          <a:prstGeom prst="roundRect">
            <a:avLst>
              <a:gd name="adj" fmla="val 460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71500" y="3653730"/>
            <a:ext cx="30735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Points Available: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71500" y="3844230"/>
            <a:ext cx="3013323" cy="260896"/>
          </a:xfrm>
          <a:prstGeom prst="roundRect">
            <a:avLst>
              <a:gd name="adj" fmla="val 146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47700" y="3901380"/>
            <a:ext cx="2918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02:00 - Daily scheduled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571500" y="4143226"/>
            <a:ext cx="3013323" cy="260896"/>
          </a:xfrm>
          <a:prstGeom prst="roundRect">
            <a:avLst>
              <a:gd name="adj" fmla="val 1460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7700" y="4200376"/>
            <a:ext cx="2918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14:00 - SELECTED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571500" y="4442222"/>
            <a:ext cx="3013323" cy="260896"/>
          </a:xfrm>
          <a:prstGeom prst="roundRect">
            <a:avLst>
              <a:gd name="adj" fmla="val 146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47700" y="4499372"/>
            <a:ext cx="2918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17:00 - On-demand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4042023" y="3792587"/>
            <a:ext cx="419100" cy="371475"/>
          </a:xfrm>
          <a:prstGeom prst="roundRect">
            <a:avLst>
              <a:gd name="adj" fmla="val 5128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/tmp/rasterized-gradient-27e54d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623" y="2986980"/>
            <a:ext cx="4187577" cy="1982837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823073" y="315843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204073" y="3217515"/>
            <a:ext cx="7861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Cluster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823073" y="3558480"/>
            <a:ext cx="3844677" cy="830461"/>
          </a:xfrm>
          <a:prstGeom prst="roundRect">
            <a:avLst>
              <a:gd name="adj" fmla="val 68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918323" y="3653730"/>
            <a:ext cx="3727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AT-35366-myapplication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918323" y="4147096"/>
            <a:ext cx="3727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to 14:00 state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04800" y="501104"/>
            <a:ext cx="2755850" cy="207064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19088" y="501104"/>
            <a:ext cx="0" cy="2070646"/>
          </a:xfrm>
          <a:prstGeom prst="line">
            <a:avLst/>
          </a:prstGeom>
          <a:noFill/>
          <a:ln w="2857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7675" y="596354"/>
            <a:ext cx="2548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Type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47675" y="800100"/>
            <a:ext cx="2498675" cy="16764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CSI driver Azure Disk PVs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Files/Blob need separate backup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In-tree volumes NOT supported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94000" y="767804"/>
            <a:ext cx="2755850" cy="153724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8288" y="767804"/>
            <a:ext cx="0" cy="1537246"/>
          </a:xfrm>
          <a:prstGeom prst="line">
            <a:avLst/>
          </a:prstGeom>
          <a:noFill/>
          <a:ln w="2857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6875" y="863054"/>
            <a:ext cx="2548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Tier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336875" y="1066800"/>
            <a:ext cx="2498675" cy="11430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size max: 1 TB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100 disks per instance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Disks need public network access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83201" y="634454"/>
            <a:ext cx="2755850" cy="1803946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7488" y="634454"/>
            <a:ext cx="0" cy="1803946"/>
          </a:xfrm>
          <a:prstGeom prst="line">
            <a:avLst/>
          </a:prstGeom>
          <a:noFill/>
          <a:ln w="2857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6076" y="729704"/>
            <a:ext cx="2548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Cross-Region Restore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226076" y="933450"/>
            <a:ext cx="2498675" cy="1409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Paired regions only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of choice NOT supported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GRS vault + CRR enabled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4800" y="2838450"/>
            <a:ext cx="2755850" cy="1803946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19088" y="2838450"/>
            <a:ext cx="0" cy="180394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7675" y="2933700"/>
            <a:ext cx="2548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Requirements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47675" y="3137446"/>
            <a:ext cx="2498675" cy="1409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 required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 NOT supported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Access to Vault required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94000" y="2705100"/>
            <a:ext cx="2755850" cy="2070646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8288" y="2705100"/>
            <a:ext cx="0" cy="207064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6875" y="2800350"/>
            <a:ext cx="2548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Constraints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336875" y="3004096"/>
            <a:ext cx="2498675" cy="16764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storage needs public access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cluster needs PE to storage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version mismatch may warn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83201" y="2971800"/>
            <a:ext cx="2755850" cy="1537246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97488" y="2971800"/>
            <a:ext cx="0" cy="1537246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26076" y="3067050"/>
            <a:ext cx="25486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and Frequency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226076" y="3270796"/>
            <a:ext cx="2498675" cy="11430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500m CPU, 256Mi RAM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4h / 8h / 12h / daily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retention: 360 days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721495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Sequence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202242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022425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Vault + Storage + Policy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2214711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58_backup_vault_deployment.sh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24623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2462361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RBAC Roles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62000" y="2654647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MSI → AKS, Snapshot RG, Storage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902297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902297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Backup Extension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2000" y="3094583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59_backup_extension_installation.sh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334223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3342233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Backup Instance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62000" y="3534519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65_backup_instance_configuration.sh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782169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782169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Adhoc Backup Test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62000" y="3974455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end-to-end flow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86300" y="1132582"/>
            <a:ext cx="41582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Considerations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86300" y="1433513"/>
            <a:ext cx="4076700" cy="56004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1433513"/>
            <a:ext cx="0" cy="560040"/>
          </a:xfrm>
          <a:prstGeom prst="line">
            <a:avLst/>
          </a:prstGeom>
          <a:noFill/>
          <a:ln w="38100">
            <a:solidFill>
              <a:srgbClr val="D83B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8700" y="154781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Sizing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38700" y="174590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extension requires ~500m CPU. Use 2+ nodes or D-series VMs.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86300" y="2107853"/>
            <a:ext cx="4076700" cy="560040"/>
          </a:xfrm>
          <a:prstGeom prst="rect">
            <a:avLst/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2107853"/>
            <a:ext cx="0" cy="560040"/>
          </a:xfrm>
          <a:prstGeom prst="line">
            <a:avLst/>
          </a:prstGeom>
          <a:noFill/>
          <a:ln w="381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38700" y="222215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Propagation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38700" y="242024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1-2 minutes after role assignments before proceeding.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86300" y="2782193"/>
            <a:ext cx="4076700" cy="560040"/>
          </a:xfrm>
          <a:prstGeom prst="rect">
            <a:avLst/>
          </a:prstGeom>
          <a:solidFill>
            <a:srgbClr val="F0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5350" y="2782193"/>
            <a:ext cx="0" cy="5600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38700" y="289649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Restore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38700" y="309458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include_cluster_scope_resources=true or pre-create namespace.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86300" y="3456533"/>
            <a:ext cx="4076700" cy="56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05350" y="3456533"/>
            <a:ext cx="0" cy="560040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38700" y="3570833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8700" y="3768923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via az dataprotection job list and pods in dataprotection-microsoft namespace.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86300" y="4130873"/>
            <a:ext cx="4076700" cy="565696"/>
          </a:xfrm>
          <a:prstGeom prst="roundRect">
            <a:avLst>
              <a:gd name="adj" fmla="val 13470"/>
            </a:avLst>
          </a:prstGeom>
          <a:solidFill>
            <a:srgbClr val="F0FFF4"/>
          </a:solidFill>
          <a:ln w="9525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10125" y="425469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Compliance ✓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810125" y="4439394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defaultAction=Deny, AzureServices bypass, GRS SKU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Status</a:t>
            </a:r>
            <a:endParaRPr lang="en-US" sz="2400" dirty="0"/>
          </a:p>
        </p:txBody>
      </p:sp>
      <p:pic>
        <p:nvPicPr>
          <p:cNvPr id="3" name="Image 0" descr="/tmp/rasterized-gradient-ee1296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60264"/>
            <a:ext cx="2692450" cy="1403896"/>
          </a:xfrm>
          <a:prstGeom prst="rect">
            <a:avLst/>
          </a:prstGeom>
        </p:spPr>
      </p:pic>
      <p:pic>
        <p:nvPicPr>
          <p:cNvPr id="4" name="Image 1" descr="/tmp/rasterized-svg-b53c9d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50764"/>
            <a:ext cx="304800" cy="30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769864"/>
            <a:ext cx="23576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2059335"/>
            <a:ext cx="23576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vault per environment scales automatically. New clusters only need extension + RBAC.</a:t>
            </a:r>
            <a:endParaRPr lang="en-US" sz="825" dirty="0"/>
          </a:p>
        </p:txBody>
      </p:sp>
      <p:pic>
        <p:nvPicPr>
          <p:cNvPr id="7" name="Image 2" descr="/tmp/rasterized-gradient-27f88f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5850" y="1160264"/>
            <a:ext cx="2692450" cy="1403896"/>
          </a:xfrm>
          <a:prstGeom prst="rect">
            <a:avLst/>
          </a:prstGeom>
        </p:spPr>
      </p:pic>
      <p:pic>
        <p:nvPicPr>
          <p:cNvPr id="8" name="Image 3" descr="/tmp/rasterized-svg-89e299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350" y="1350764"/>
            <a:ext cx="304800" cy="304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16350" y="1769864"/>
            <a:ext cx="23576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3416350" y="2059335"/>
            <a:ext cx="23576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Azure Policy requirements. GRS storage with network restrictions enabled.</a:t>
            </a:r>
            <a:endParaRPr lang="en-US" sz="825" dirty="0"/>
          </a:p>
        </p:txBody>
      </p:sp>
      <p:pic>
        <p:nvPicPr>
          <p:cNvPr id="11" name="Image 4" descr="/tmp/rasterized-gradient-1f8292d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699" y="1160264"/>
            <a:ext cx="2692450" cy="1403896"/>
          </a:xfrm>
          <a:prstGeom prst="rect">
            <a:avLst/>
          </a:prstGeom>
        </p:spPr>
      </p:pic>
      <p:pic>
        <p:nvPicPr>
          <p:cNvPr id="12" name="Image 5" descr="/tmp/rasterized-svg-100c17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199" y="1350764"/>
            <a:ext cx="304800" cy="3048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261199" y="1769864"/>
            <a:ext cx="235767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6261199" y="2059335"/>
            <a:ext cx="23576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GitLab pipeline integration. Scripts already in repository and tested.</a:t>
            </a:r>
            <a:endParaRPr lang="en-US" sz="825" dirty="0"/>
          </a:p>
        </p:txBody>
      </p:sp>
      <p:sp>
        <p:nvSpPr>
          <p:cNvPr id="15" name="Text 7"/>
          <p:cNvSpPr/>
          <p:nvPr/>
        </p:nvSpPr>
        <p:spPr>
          <a:xfrm>
            <a:off x="381000" y="3076873"/>
            <a:ext cx="8382000" cy="1329482"/>
          </a:xfrm>
          <a:prstGeom prst="roundRect">
            <a:avLst>
              <a:gd name="adj" fmla="val 8597"/>
            </a:avLst>
          </a:prstGeom>
          <a:solidFill>
            <a:srgbClr val="107C1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609600" y="3305473"/>
            <a:ext cx="65280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609600" y="3541663"/>
            <a:ext cx="652805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&amp; In Implementation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609600" y="3857774"/>
            <a:ext cx="65280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backup and recovery solution addresses real disaster recovery scenarios. Full automation via GitLab pipeline.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7200156" y="3336875"/>
            <a:ext cx="1334244" cy="809476"/>
          </a:xfrm>
          <a:prstGeom prst="roundRect">
            <a:avLst>
              <a:gd name="adj" fmla="val 94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7419985" y="3489275"/>
            <a:ext cx="8945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7419985" y="3847356"/>
            <a:ext cx="8945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Timeline</a:t>
            </a:r>
            <a:endParaRPr lang="en-US" sz="825" dirty="0"/>
          </a:p>
        </p:txBody>
      </p:sp>
      <p:sp>
        <p:nvSpPr>
          <p:cNvPr id="22" name="Text 14"/>
          <p:cNvSpPr/>
          <p:nvPr/>
        </p:nvSpPr>
        <p:spPr>
          <a:xfrm>
            <a:off x="381000" y="4596854"/>
            <a:ext cx="2717750" cy="394246"/>
          </a:xfrm>
          <a:prstGeom prst="roundRect">
            <a:avLst>
              <a:gd name="adj" fmla="val 19328"/>
            </a:avLst>
          </a:prstGeom>
          <a:solidFill>
            <a:srgbClr val="F0FFF4"/>
          </a:solidFill>
          <a:ln w="9525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480124" y="4720679"/>
            <a:ext cx="2519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Dev &amp; QA</a:t>
            </a:r>
            <a:endParaRPr lang="en-US" sz="825" dirty="0"/>
          </a:p>
        </p:txBody>
      </p:sp>
      <p:sp>
        <p:nvSpPr>
          <p:cNvPr id="24" name="Text 16"/>
          <p:cNvSpPr/>
          <p:nvPr/>
        </p:nvSpPr>
        <p:spPr>
          <a:xfrm>
            <a:off x="3213050" y="4596854"/>
            <a:ext cx="2717750" cy="394246"/>
          </a:xfrm>
          <a:prstGeom prst="roundRect">
            <a:avLst>
              <a:gd name="adj" fmla="val 19328"/>
            </a:avLst>
          </a:prstGeom>
          <a:solidFill>
            <a:srgbClr val="F0FFF4"/>
          </a:solidFill>
          <a:ln w="9525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3312174" y="4720679"/>
            <a:ext cx="2519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Production</a:t>
            </a:r>
            <a:endParaRPr lang="en-US" sz="825" dirty="0"/>
          </a:p>
        </p:txBody>
      </p:sp>
      <p:sp>
        <p:nvSpPr>
          <p:cNvPr id="26" name="Text 18"/>
          <p:cNvSpPr/>
          <p:nvPr/>
        </p:nvSpPr>
        <p:spPr>
          <a:xfrm>
            <a:off x="6045101" y="4596854"/>
            <a:ext cx="2717750" cy="394246"/>
          </a:xfrm>
          <a:prstGeom prst="roundRect">
            <a:avLst>
              <a:gd name="adj" fmla="val 19328"/>
            </a:avLst>
          </a:prstGeom>
          <a:solidFill>
            <a:srgbClr val="F0FFF4"/>
          </a:solidFill>
          <a:ln w="9525">
            <a:solidFill>
              <a:srgbClr val="107C1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6144225" y="4720679"/>
            <a:ext cx="2519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Cross-Region DR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Macintosh PowerPoint</Application>
  <PresentationFormat>On-screen Show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UK8S Platform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Backup for AKS - Enterprise Architecture</dc:title>
  <dc:subject>PptxGenJS Presentation</dc:subject>
  <dc:creator>Platform Engineering</dc:creator>
  <cp:lastModifiedBy>Shola Jibodu</cp:lastModifiedBy>
  <cp:revision>1</cp:revision>
  <dcterms:created xsi:type="dcterms:W3CDTF">2026-01-22T09:46:58Z</dcterms:created>
  <dcterms:modified xsi:type="dcterms:W3CDTF">2026-01-22T13:07:32Z</dcterms:modified>
</cp:coreProperties>
</file>